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3984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10/09/2026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10/09/2026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10/09/2026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6" y="3583914"/>
            <a:ext cx="5420043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2200" b="0" dirty="0">
                <a:solidFill>
                  <a:schemeClr val="tx1"/>
                </a:solidFill>
              </a:rPr>
              <a:t>Amanpreet Kaur</a:t>
            </a:r>
          </a:p>
          <a:p>
            <a:pPr algn="r"/>
            <a:r>
              <a:rPr lang="en-US" sz="2200" b="0" dirty="0">
                <a:solidFill>
                  <a:schemeClr val="tx1"/>
                </a:solidFill>
              </a:rPr>
              <a:t>Vivekananda College, University of Delhi</a:t>
            </a:r>
            <a:endParaRPr lang="en-IN" sz="22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662943"/>
            <a:ext cx="7765841" cy="925255"/>
          </a:xfrm>
        </p:spPr>
        <p:txBody>
          <a:bodyPr>
            <a:noAutofit/>
          </a:bodyPr>
          <a:lstStyle/>
          <a:p>
            <a:r>
              <a:rPr lang="en-GB" sz="2700" dirty="0"/>
              <a:t>Project Title - </a:t>
            </a:r>
            <a:r>
              <a:rPr lang="en-US" sz="2700" dirty="0"/>
              <a:t>Seasonal Agriculture Performance Analysis</a:t>
            </a:r>
            <a:endParaRPr lang="en-IN" sz="27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5" y="4576469"/>
            <a:ext cx="39878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AICTE STU ID : </a:t>
            </a:r>
            <a:r>
              <a:rPr lang="en-US" sz="2100" dirty="0"/>
              <a:t>STU6a393ef1298441782136561</a:t>
            </a:r>
            <a:endParaRPr lang="en-US" sz="2100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 marL="0" indent="0">
              <a:buNone/>
            </a:pPr>
            <a:r>
              <a:rPr lang="en-US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 marL="0" indent="0">
              <a:buNone/>
            </a:pPr>
            <a:r>
              <a:rPr lang="en-US" dirty="0"/>
              <a:t>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924ABB-149F-D034-652C-DC938D99238F}"/>
              </a:ext>
            </a:extLst>
          </p:cNvPr>
          <p:cNvSpPr txBox="1"/>
          <p:nvPr/>
        </p:nvSpPr>
        <p:spPr>
          <a:xfrm>
            <a:off x="660400" y="1761178"/>
            <a:ext cx="85395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 dirty="0"/>
              <a:t>Objectives</a:t>
            </a:r>
            <a:endParaRPr lang="en-US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Explore and understand the dataset structure and contents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Clean and prepare the data for analysis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Examine how agricultural performance varies across seasons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Identify important seasonal patterns and trends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Investigate relationships between seasonal conditions and agricultural outcomes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Compare relevant groups within different seasons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Apply appropriate statistical and visualization techniques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Develop meaningful conclusions and data-driven recommendations</a:t>
            </a:r>
          </a:p>
          <a:p>
            <a:pPr rtl="0">
              <a:buNone/>
            </a:pPr>
            <a:r>
              <a:rPr lang="en-US" b="1" dirty="0"/>
              <a:t>Expected Outcomes</a:t>
            </a:r>
            <a:endParaRPr lang="en-US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Perform appropriate data cleaning and preparation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Identify important seasonal patterns across Kharif, Rabi and Zaid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Compare agricultural performance across seasons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Develop evidence-based insights and practical recommendations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Document the complete analysis in a Jupyter Notebook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US" sz="3600" b="1" dirty="0"/>
              <a:t>Farmers &amp; Farming Communities:</a:t>
            </a:r>
            <a:r>
              <a:rPr lang="en-US" sz="3600" dirty="0"/>
              <a:t> Understand which seasons and crops yield the best returns and plan activities accordingly</a:t>
            </a:r>
          </a:p>
          <a:p>
            <a:pPr lvl="0"/>
            <a:r>
              <a:rPr lang="en-US" sz="3600" b="1" dirty="0"/>
              <a:t>Agricultural Scientists &amp; Researchers:</a:t>
            </a:r>
            <a:r>
              <a:rPr lang="en-US" sz="3600" dirty="0"/>
              <a:t> e.g. ICAR divisions — Maize Research, Division of Genetics, Soil Science, Crop Physiology</a:t>
            </a:r>
          </a:p>
          <a:p>
            <a:pPr lvl="0"/>
            <a:r>
              <a:rPr lang="en-US" sz="3600" b="1" dirty="0"/>
              <a:t>Government &amp; Policy Bodies:</a:t>
            </a:r>
            <a:r>
              <a:rPr lang="en-US" sz="3600" dirty="0"/>
              <a:t> Design seasonal support </a:t>
            </a:r>
            <a:r>
              <a:rPr lang="en-US" sz="3600" dirty="0" err="1"/>
              <a:t>programmes</a:t>
            </a:r>
            <a:r>
              <a:rPr lang="en-US" sz="3600" dirty="0"/>
              <a:t>, subsidies and procurement pricing</a:t>
            </a:r>
          </a:p>
          <a:p>
            <a:pPr lvl="0"/>
            <a:r>
              <a:rPr lang="en-US" sz="3600" b="1" dirty="0"/>
              <a:t>Environmentalists &amp; Climate Analysts:</a:t>
            </a:r>
            <a:r>
              <a:rPr lang="en-US" sz="3600" dirty="0"/>
              <a:t> Study correlations between rainfall, temperature and agricultural output</a:t>
            </a:r>
          </a:p>
          <a:p>
            <a:pPr lvl="0"/>
            <a:r>
              <a:rPr lang="en-US" sz="3600" b="1" dirty="0"/>
              <a:t>Agri-input Companies:</a:t>
            </a:r>
            <a:r>
              <a:rPr lang="en-US" sz="3600" dirty="0"/>
              <a:t> Align fertilizer, pesticide and irrigation product strategies to seasonal demand</a:t>
            </a:r>
          </a:p>
          <a:p>
            <a:pPr lvl="0"/>
            <a:r>
              <a:rPr lang="en-US" sz="3600" b="1" dirty="0"/>
              <a:t>Students &amp; Data Analysts:</a:t>
            </a:r>
            <a:r>
              <a:rPr lang="en-US" sz="3600" dirty="0"/>
              <a:t> Practice real-world seasonal data analytics on a structured agriculture dataset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DA305-5209-AD63-1863-0CB0DAA5387B}"/>
              </a:ext>
            </a:extLst>
          </p:cNvPr>
          <p:cNvSpPr txBox="1"/>
          <p:nvPr/>
        </p:nvSpPr>
        <p:spPr>
          <a:xfrm>
            <a:off x="1595533" y="1728424"/>
            <a:ext cx="755779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b="1" dirty="0"/>
              <a:t>Python:</a:t>
            </a:r>
            <a:r>
              <a:rPr lang="en-US" sz="2400" dirty="0"/>
              <a:t> Core programming language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b="1" dirty="0"/>
              <a:t>Pandas:</a:t>
            </a:r>
            <a:r>
              <a:rPr lang="en-US" sz="2400" dirty="0"/>
              <a:t> Data loading, cleaning, filtering, grouping and aggregation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b="1" dirty="0"/>
              <a:t>NumPy:</a:t>
            </a:r>
            <a:r>
              <a:rPr lang="en-US" sz="2400" dirty="0"/>
              <a:t> Numerical operations, statistical computations and array handling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b="1" dirty="0"/>
              <a:t>Matplotlib:</a:t>
            </a:r>
            <a:r>
              <a:rPr lang="en-US" sz="2400" dirty="0"/>
              <a:t> Plotting library for charts, histograms and scatter plots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b="1" dirty="0"/>
              <a:t>Seaborn:</a:t>
            </a:r>
            <a:r>
              <a:rPr lang="en-US" sz="2400" dirty="0"/>
              <a:t> Statistical visualizations such as boxplots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b="1" dirty="0"/>
              <a:t>Google </a:t>
            </a:r>
            <a:r>
              <a:rPr lang="en-US" sz="2400" b="1" dirty="0" err="1"/>
              <a:t>Colab</a:t>
            </a:r>
            <a:r>
              <a:rPr lang="en-US" sz="2400" b="1" dirty="0"/>
              <a:t>:</a:t>
            </a:r>
            <a:r>
              <a:rPr lang="en-US" sz="2400" dirty="0"/>
              <a:t> Cloud-based execution environment used to run the notebook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200B31-DD64-59D9-F94E-06C2C6DBCD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762"/>
          <a:stretch>
            <a:fillRect/>
          </a:stretch>
        </p:blipFill>
        <p:spPr>
          <a:xfrm>
            <a:off x="675957" y="1201586"/>
            <a:ext cx="5277014" cy="1861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E59C03-1614-15B8-44ED-B70934243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808" y="3166850"/>
            <a:ext cx="9153331" cy="32010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FC349D-2686-719C-D1D0-DC2DAA5148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771"/>
          <a:stretch>
            <a:fillRect/>
          </a:stretch>
        </p:blipFill>
        <p:spPr>
          <a:xfrm>
            <a:off x="6096000" y="1530663"/>
            <a:ext cx="5277014" cy="120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8F327C-3826-0D28-9CA1-551300FF689F}"/>
              </a:ext>
            </a:extLst>
          </p:cNvPr>
          <p:cNvSpPr txBox="1"/>
          <p:nvPr/>
        </p:nvSpPr>
        <p:spPr>
          <a:xfrm>
            <a:off x="7146482" y="1242355"/>
            <a:ext cx="39468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+mn-lt"/>
              </a:rPr>
              <a:t>Question: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+mn-lt"/>
              </a:rPr>
              <a:t> Does crop yield and profit change across Kharif, Rabi and Zaid seasons? Which crops do better in which season?</a:t>
            </a:r>
          </a:p>
          <a:p>
            <a:pPr indent="0" algn="l"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+mn-lt"/>
              </a:rPr>
              <a:t>Why I chose this: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+mn-lt"/>
              </a:rPr>
              <a:t> Since this project is about seasonal agricultural performance, I wanted to see which crops actually grow better and earn more profit depending on the season.</a:t>
            </a:r>
            <a:endParaRPr lang="en-US" sz="1600" b="0" i="0" dirty="0">
              <a:solidFill>
                <a:srgbClr val="E3E3E3"/>
              </a:solidFill>
              <a:effectLst/>
              <a:latin typeface="Google Sans Tex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A5B3FA-D165-8FCF-39EE-D6A160ECE717}"/>
              </a:ext>
            </a:extLst>
          </p:cNvPr>
          <p:cNvSpPr txBox="1"/>
          <p:nvPr/>
        </p:nvSpPr>
        <p:spPr>
          <a:xfrm>
            <a:off x="3909526" y="601421"/>
            <a:ext cx="6820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Student Analysis 1: Which crops perform best in each season?</a:t>
            </a:r>
            <a:endParaRPr lang="en-US" sz="1500" b="0" i="0" dirty="0">
              <a:solidFill>
                <a:srgbClr val="E3E3E3"/>
              </a:solidFill>
              <a:effectLst/>
              <a:latin typeface="Google Sans Tex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A7E04A-6689-BEDF-F746-9D1F60339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45" y="1201586"/>
            <a:ext cx="6158012" cy="25984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C32D26-E102-FB1D-DA30-44AAF6CEE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164" y="3822281"/>
            <a:ext cx="6736758" cy="284267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0E06E91-DE0F-9845-FABA-0A1F0B2785EC}"/>
              </a:ext>
            </a:extLst>
          </p:cNvPr>
          <p:cNvSpPr txBox="1"/>
          <p:nvPr/>
        </p:nvSpPr>
        <p:spPr>
          <a:xfrm>
            <a:off x="675957" y="3948255"/>
            <a:ext cx="41039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Results:</a:t>
            </a:r>
          </a:p>
          <a:p>
            <a:r>
              <a:rPr lang="en-US" sz="1600" dirty="0"/>
              <a:t>Sugarcane: 53.46 t/ha in Kharif</a:t>
            </a:r>
          </a:p>
          <a:p>
            <a:r>
              <a:rPr lang="en-US" sz="1600" dirty="0"/>
              <a:t>Wheat, Rice and Maize show negative average profits</a:t>
            </a:r>
          </a:p>
          <a:p>
            <a:r>
              <a:rPr lang="en-US" sz="1600" b="1" dirty="0"/>
              <a:t>Limitation:</a:t>
            </a:r>
            <a:r>
              <a:rPr lang="en-US" sz="1600" dirty="0"/>
              <a:t> Just because a crop gives high yield does not mean every farmer should grow it. Factors like water availability, soil type and local market prices also matter and are not fully captured here.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59C7F7-9F2B-D835-D097-CAB610DE4CC9}"/>
              </a:ext>
            </a:extLst>
          </p:cNvPr>
          <p:cNvSpPr txBox="1"/>
          <p:nvPr/>
        </p:nvSpPr>
        <p:spPr>
          <a:xfrm>
            <a:off x="3657600" y="601421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Student Analysis 2: NPK Nutrient Usage Across Seasons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02A86D-566C-416F-A142-E02519FE8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65" y="1258197"/>
            <a:ext cx="4344689" cy="25785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CCD7A1-D9B9-0D75-2C93-F52262002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124" y="3514058"/>
            <a:ext cx="3622346" cy="30543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D84E98-B7A1-4F00-7FDB-62C970F727F4}"/>
              </a:ext>
            </a:extLst>
          </p:cNvPr>
          <p:cNvSpPr txBox="1"/>
          <p:nvPr/>
        </p:nvSpPr>
        <p:spPr>
          <a:xfrm>
            <a:off x="5893063" y="1211354"/>
            <a:ext cx="548846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+mn-lt"/>
              </a:rPr>
              <a:t>Question: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+mn-lt"/>
              </a:rPr>
              <a:t> Do farmers apply different amounts of Nitrogen, Phosphorus and Potassium in different seasons? Does using more nutrients mean better yield?</a:t>
            </a:r>
          </a:p>
          <a:p>
            <a:pPr indent="0" algn="l"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+mn-lt"/>
              </a:rPr>
              <a:t>Why I chose this: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+mn-lt"/>
              </a:rPr>
              <a:t> Nitrogen, Phosphorus and Potassium are the three most important nutrients for crop growth. I wanted to check if seasonal farming practices differ in how these nutrients are used and whether that explains the yield differences we see.</a:t>
            </a:r>
            <a:endParaRPr lang="en-US" sz="1600" b="0" i="0" dirty="0">
              <a:solidFill>
                <a:srgbClr val="E3E3E3"/>
              </a:solidFill>
              <a:effectLst/>
              <a:latin typeface="Google Sans Tex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26669E-AE6B-1759-EE60-C95A53C5A28B}"/>
              </a:ext>
            </a:extLst>
          </p:cNvPr>
          <p:cNvSpPr txBox="1"/>
          <p:nvPr/>
        </p:nvSpPr>
        <p:spPr>
          <a:xfrm>
            <a:off x="779106" y="4092704"/>
            <a:ext cx="57569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Result:</a:t>
            </a:r>
            <a:br>
              <a:rPr lang="en-US" sz="1600" dirty="0"/>
            </a:br>
            <a:r>
              <a:rPr lang="en-US" sz="1600" dirty="0"/>
              <a:t>Nitrogen ~120 kg/ha, Phosphorus ~58 kg/ha, Potassium ~105 kg/ha — almost identical across all three seasons</a:t>
            </a:r>
          </a:p>
          <a:p>
            <a:r>
              <a:rPr lang="en-US" sz="1600" b="1" dirty="0"/>
              <a:t>Limitation:</a:t>
            </a:r>
            <a:r>
              <a:rPr lang="en-US" sz="1600" dirty="0"/>
              <a:t> This does not mean nutrients are unimportant for crops. It just means that in this dataset everyone is applying similar amounts, so we cannot see a difference. Other factors like rainfall, season and crop type are probably more responsible for yield differences here.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7C41A-4112-2AAE-09D1-2FDB9A012CF0}"/>
              </a:ext>
            </a:extLst>
          </p:cNvPr>
          <p:cNvSpPr txBox="1"/>
          <p:nvPr/>
        </p:nvSpPr>
        <p:spPr>
          <a:xfrm>
            <a:off x="4114800" y="601421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Student Analysis 3: Do Inputs Actually Affect Yield?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6C0892-E0F1-83B4-F30E-5769120DD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50" y="1201586"/>
            <a:ext cx="5420043" cy="26659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A2BD7E-787D-AC36-9B95-A3F893E3E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309" y="3253873"/>
            <a:ext cx="5212703" cy="32180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6C1E3B-D583-8F4A-C117-B10847F76052}"/>
              </a:ext>
            </a:extLst>
          </p:cNvPr>
          <p:cNvSpPr txBox="1"/>
          <p:nvPr/>
        </p:nvSpPr>
        <p:spPr>
          <a:xfrm>
            <a:off x="6290390" y="1201586"/>
            <a:ext cx="501053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+mn-lt"/>
              </a:rPr>
              <a:t>Question: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+mn-lt"/>
              </a:rPr>
              <a:t> If a farmer uses more fertilizer, more pesticide or better quality seeds — do they get a better yield?</a:t>
            </a:r>
          </a:p>
          <a:p>
            <a:pPr indent="0" algn="l"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+mn-lt"/>
              </a:rPr>
              <a:t>Why I chose this: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+mn-lt"/>
              </a:rPr>
              <a:t> Farmers spend a lot of money on fertilizers, pesticides and good seeds expecting better results. I wanted to check if that investment actually shows up as better yield in the data.</a:t>
            </a:r>
            <a:endParaRPr lang="en-US" sz="1600" b="0" i="0" dirty="0">
              <a:solidFill>
                <a:srgbClr val="E3E3E3"/>
              </a:solidFill>
              <a:effectLst/>
              <a:latin typeface="Google Sans Tex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FDEAA0-9B91-A5C2-1805-F7A5AAFFCF10}"/>
              </a:ext>
            </a:extLst>
          </p:cNvPr>
          <p:cNvSpPr txBox="1"/>
          <p:nvPr/>
        </p:nvSpPr>
        <p:spPr>
          <a:xfrm>
            <a:off x="582650" y="4015569"/>
            <a:ext cx="52127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Result:</a:t>
            </a:r>
            <a:br>
              <a:rPr lang="en-US" sz="1600" dirty="0"/>
            </a:br>
            <a:r>
              <a:rPr lang="en-US" sz="1600" dirty="0"/>
              <a:t>Correlation between fertilizer and yield is almost zero — more does not always mean better</a:t>
            </a:r>
          </a:p>
          <a:p>
            <a:r>
              <a:rPr lang="en-US" sz="1600" b="1" dirty="0"/>
              <a:t>Limitation:</a:t>
            </a:r>
            <a:r>
              <a:rPr lang="en-US" sz="1600" dirty="0"/>
              <a:t> This does not mean fertilizers and pesticides are useless. It means this dataset does not show a strong link — possibly because other factors like crop type and season are more dominant. A separate analysis for each crop type might show a different picture.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C7D7C7-2493-37B1-E9F5-FFD72E9C204F}"/>
              </a:ext>
            </a:extLst>
          </p:cNvPr>
          <p:cNvSpPr txBox="1"/>
          <p:nvPr/>
        </p:nvSpPr>
        <p:spPr>
          <a:xfrm>
            <a:off x="606489" y="1317562"/>
            <a:ext cx="989045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Key Insights:</a:t>
            </a:r>
            <a:br>
              <a:rPr lang="en-US" sz="2000" dirty="0"/>
            </a:br>
            <a:r>
              <a:rPr lang="en-US" sz="2000" dirty="0"/>
              <a:t>1. Kharif season has the highest average yield (5.63 t/ha) and profit (₹1,78,914). Zaid has the lowest yield (4.64 t/ha) and even shows a negative average profit (-₹24,804).</a:t>
            </a:r>
          </a:p>
          <a:p>
            <a:r>
              <a:rPr lang="en-US" sz="2000" dirty="0"/>
              <a:t>2. Sugarcane gives the highest yield in all three seasons.</a:t>
            </a:r>
          </a:p>
          <a:p>
            <a:r>
              <a:rPr lang="en-US" sz="2000" dirty="0"/>
              <a:t>3. Wheat, Rice and Maize show negative average profits across all seasons.</a:t>
            </a:r>
          </a:p>
          <a:p>
            <a:r>
              <a:rPr lang="en-US" sz="2000" dirty="0"/>
              <a:t>4. Drip irrigation gives the highest average yield (6.58 t/ha) compared to flood (4.86), sprinkler (5.16) and rainfed (4.60).</a:t>
            </a:r>
          </a:p>
          <a:p>
            <a:r>
              <a:rPr lang="en-US" sz="2000" dirty="0"/>
              <a:t>5. Kharif season has the highest disease and pest risk at 54.47% compared to Rabi (40.48%) and Zaid (38.22%).</a:t>
            </a:r>
          </a:p>
          <a:p>
            <a:r>
              <a:rPr lang="en-US" sz="2000" dirty="0"/>
              <a:t>6. NPK nutrient application is almost identical across all three seasons even though yield is clearly different.</a:t>
            </a:r>
          </a:p>
          <a:p>
            <a:r>
              <a:rPr lang="en-US" sz="2000" dirty="0"/>
              <a:t>7. Punjab has the highest average yield (6.12 t/ha) among all states. Andhra Pradesh has the lowest (4.63 t/ha).</a:t>
            </a:r>
          </a:p>
          <a:p>
            <a:r>
              <a:rPr lang="en-US" sz="2000" dirty="0"/>
              <a:t>8. Kharif season also has the best water efficiency (5.89 </a:t>
            </a:r>
            <a:r>
              <a:rPr lang="en-US" sz="2000" dirty="0" err="1"/>
              <a:t>tonnes</a:t>
            </a:r>
            <a:r>
              <a:rPr lang="en-US" sz="2000" dirty="0"/>
              <a:t> per 1000 m³) even though it uses more water in total (6102 m³ on average).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08CEC-59F4-A6F0-CE48-19D1B7D13C99}"/>
              </a:ext>
            </a:extLst>
          </p:cNvPr>
          <p:cNvSpPr txBox="1"/>
          <p:nvPr/>
        </p:nvSpPr>
        <p:spPr>
          <a:xfrm>
            <a:off x="320982" y="1275371"/>
            <a:ext cx="1036256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Student Analysis 1 — Season-wise Crop Performance</a:t>
            </a:r>
          </a:p>
          <a:p>
            <a:r>
              <a:rPr lang="en-US" dirty="0"/>
              <a:t>Finding: Kharif gives the best yield and profit. Sugarcane and Chilli are most profitable across all seasons.</a:t>
            </a:r>
          </a:p>
          <a:p>
            <a:r>
              <a:rPr lang="en-US" dirty="0"/>
              <a:t>Next Step: Build a crop recommendation system that suggests the best crop for a farmer based on their season, location and budget.</a:t>
            </a:r>
          </a:p>
          <a:p>
            <a:r>
              <a:rPr lang="en-US" dirty="0"/>
              <a:t>Who benefits: Farmers and Agricultural Scientists</a:t>
            </a:r>
          </a:p>
          <a:p>
            <a:endParaRPr lang="en-US" dirty="0"/>
          </a:p>
          <a:p>
            <a:r>
              <a:rPr lang="en-US" dirty="0"/>
              <a:t>Student Analysis 2 — NPK Nutrient Usage Across Seasons</a:t>
            </a:r>
          </a:p>
          <a:p>
            <a:r>
              <a:rPr lang="en-US" dirty="0"/>
              <a:t>Finding: NPK application is uniform across seasons and shows weak correlation with yield.</a:t>
            </a:r>
          </a:p>
          <a:p>
            <a:r>
              <a:rPr lang="en-US" dirty="0"/>
              <a:t>Next Step: Design season-specific and crop-specific nutrient plans using soil testing data to optimize NPK usage.</a:t>
            </a:r>
          </a:p>
          <a:p>
            <a:r>
              <a:rPr lang="en-US" dirty="0"/>
              <a:t>Who benefits: Farmers, Government &amp; Policy Bodies</a:t>
            </a:r>
          </a:p>
          <a:p>
            <a:endParaRPr lang="en-US" dirty="0"/>
          </a:p>
          <a:p>
            <a:r>
              <a:rPr lang="en-US" dirty="0"/>
              <a:t>Student Analysis 3 — Fertilizer, Pesticide and Seed Quality vs Yield</a:t>
            </a:r>
          </a:p>
          <a:p>
            <a:r>
              <a:rPr lang="en-US" dirty="0"/>
              <a:t>Finding: No strong relationship found between these inputs and yield in this dataset.</a:t>
            </a:r>
          </a:p>
          <a:p>
            <a:r>
              <a:rPr lang="en-US" dirty="0"/>
              <a:t>Next Step: Conduct a crop-separated analysis to check if the relationship between inputs and yield becomes clearer when each crop is studied individually.</a:t>
            </a:r>
          </a:p>
          <a:p>
            <a:r>
              <a:rPr lang="en-US" dirty="0"/>
              <a:t>Who benefits: Agri-input Companies, Environmental Analysts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8DD65-CC7F-A5D5-B37F-A1086A5CC992}"/>
              </a:ext>
            </a:extLst>
          </p:cNvPr>
          <p:cNvSpPr txBox="1"/>
          <p:nvPr/>
        </p:nvSpPr>
        <p:spPr>
          <a:xfrm>
            <a:off x="675956" y="1216841"/>
            <a:ext cx="88599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https://github.com/amanpreet-kaur-103/Seasonal-Agriculture-Performance-Analysis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6769873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B49815B-C053-4CEC-356B-282B097356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707194"/>
              </p:ext>
            </p:extLst>
          </p:nvPr>
        </p:nvGraphicFramePr>
        <p:xfrm>
          <a:off x="675957" y="1393805"/>
          <a:ext cx="7105774" cy="5022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6415686" imgH="4533492" progId="Acrobat.Document.DC">
                  <p:embed/>
                </p:oleObj>
              </mc:Choice>
              <mc:Fallback>
                <p:oleObj name="Acrobat Document" r:id="rId3" imgW="6415686" imgH="4533492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5957" y="1393805"/>
                        <a:ext cx="7105774" cy="5022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1514</TotalTime>
  <Words>1204</Words>
  <Application>Microsoft Office PowerPoint</Application>
  <PresentationFormat>Widescreen</PresentationFormat>
  <Paragraphs>90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Google Sans Text</vt:lpstr>
      <vt:lpstr>Arial</vt:lpstr>
      <vt:lpstr>Calibri</vt:lpstr>
      <vt:lpstr>Trebuchet MS</vt:lpstr>
      <vt:lpstr>Wingdings</vt:lpstr>
      <vt:lpstr>Wingdings 3</vt:lpstr>
      <vt:lpstr>Facet</vt:lpstr>
      <vt:lpstr>Acrobat Document</vt:lpstr>
      <vt:lpstr>Project Title - Seasonal Agriculture Performance Analysis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Hardeep Singh</cp:lastModifiedBy>
  <cp:revision>106</cp:revision>
  <dcterms:created xsi:type="dcterms:W3CDTF">2021-07-11T13:13:15Z</dcterms:created>
  <dcterms:modified xsi:type="dcterms:W3CDTF">2026-09-09T21:52:00Z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